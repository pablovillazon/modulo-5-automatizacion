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E2761"/>
                </a:solidFill>
                <a:latin typeface="Arial"/>
              </a:rPr>
              <a:t>Tiempo de primera respuesta (min)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Minutos hasta primera respuesta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Proceso manual</c:v>
                  </c:pt>
                  <c:pt idx="1">
                    <c:v>Con n8n + LLM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45</c:v>
                </c:pt>
                <c:pt idx="1">
                  <c:v>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3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B2B2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6E6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B2B2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331720"/>
            <a:ext cx="822960" cy="822960"/>
          </a:xfrm>
          <a:prstGeom prst="roundRect">
            <a:avLst>
              <a:gd name="adj" fmla="val 20000"/>
            </a:avLst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317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920240" y="2148840"/>
            <a:ext cx="9326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Triage inteligente de correo con n8n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1920240" y="3246120"/>
            <a:ext cx="8778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Automatizacion de clasificacion y respuesta de correo integrando Gmail, un LLM, Slack y Google Sheets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92024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FA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 de Automatizacion  |  Proyecto de modulo  |  n8n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Equipos pequenos pierden horas clasificando y respondiendo correo manualmente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3520440" cy="3291840"/>
          </a:xfrm>
          <a:prstGeom prst="roundRect">
            <a:avLst>
              <a:gd name="adj" fmla="val 3333"/>
            </a:avLst>
          </a:prstGeom>
          <a:solidFill>
            <a:srgbClr val="F7F9FD"/>
          </a:solidFill>
          <a:ln w="12700">
            <a:solidFill>
              <a:srgbClr val="E1E6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46888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324612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Volumen alto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68680" y="3703320"/>
            <a:ext cx="28803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Decenas de correos diarios entre consultas, quejas y ventas, sin un criterio uniforme de priorizacion.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297680" y="2148840"/>
            <a:ext cx="3520440" cy="3291840"/>
          </a:xfrm>
          <a:prstGeom prst="roundRect">
            <a:avLst>
              <a:gd name="adj" fmla="val 3333"/>
            </a:avLst>
          </a:prstGeom>
          <a:solidFill>
            <a:srgbClr val="F7F9FD"/>
          </a:solidFill>
          <a:ln w="12700">
            <a:solidFill>
              <a:srgbClr val="E1E6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17720" y="246888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4617720" y="324612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de respuesta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617720" y="3703320"/>
            <a:ext cx="28803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correos urgentes se mezclan con el resto y tardan en detectarse, generando mala experiencia.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046720" y="2148840"/>
            <a:ext cx="3520440" cy="3291840"/>
          </a:xfrm>
          <a:prstGeom prst="roundRect">
            <a:avLst>
              <a:gd name="adj" fmla="val 3333"/>
            </a:avLst>
          </a:prstGeom>
          <a:solidFill>
            <a:srgbClr val="F7F9FD"/>
          </a:solidFill>
          <a:ln w="12700">
            <a:solidFill>
              <a:srgbClr val="E1E6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366760" y="246888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8366760" y="324612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repetitivo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366760" y="3703320"/>
            <a:ext cx="28803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 parte de las respuestas son variaciones de las mismas preguntas frecuentes.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64031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SOLUCION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workflow en n8n que clasifica, responde y registra cada correo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2606040" cy="3291840"/>
          </a:xfrm>
          <a:prstGeom prst="roundRect">
            <a:avLst>
              <a:gd name="adj" fmla="val 4211"/>
            </a:avLst>
          </a:prstGeom>
          <a:solidFill>
            <a:srgbClr val="1E2761"/>
          </a:solidFill>
          <a:ln w="12700">
            <a:solidFill>
              <a:srgbClr val="E1E6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33172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77240" y="306324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Recibir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3566160"/>
            <a:ext cx="21488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 dispara el flujo con cada correo nuevo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91840" y="2103120"/>
            <a:ext cx="2606040" cy="3291840"/>
          </a:xfrm>
          <a:prstGeom prst="roundRect">
            <a:avLst>
              <a:gd name="adj" fmla="val 4211"/>
            </a:avLst>
          </a:prstGeom>
          <a:solidFill>
            <a:srgbClr val="F7F9FD"/>
          </a:solidFill>
          <a:ln w="12700">
            <a:solidFill>
              <a:srgbClr val="E1E6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20440" y="233172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520440" y="306324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520440" y="3566160"/>
            <a:ext cx="21488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LLM asigna categoria y redacta un borrador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35040" y="2103120"/>
            <a:ext cx="2606040" cy="3291840"/>
          </a:xfrm>
          <a:prstGeom prst="roundRect">
            <a:avLst>
              <a:gd name="adj" fmla="val 4211"/>
            </a:avLst>
          </a:prstGeom>
          <a:solidFill>
            <a:srgbClr val="F7F9FD"/>
          </a:solidFill>
          <a:ln w="12700">
            <a:solidFill>
              <a:srgbClr val="E1E6F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63640" y="233172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263640" y="306324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Enrutar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263640" y="3566160"/>
            <a:ext cx="21488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Segun la categoria: Slack, respuesta o revision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778240" y="2103120"/>
            <a:ext cx="2606040" cy="3291840"/>
          </a:xfrm>
          <a:prstGeom prst="roundRect">
            <a:avLst>
              <a:gd name="adj" fmla="val 4211"/>
            </a:avLst>
          </a:prstGeom>
          <a:solidFill>
            <a:srgbClr val="F7F9FD"/>
          </a:solidFill>
          <a:ln w="12700">
            <a:solidFill>
              <a:srgbClr val="E1E6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006840" y="233172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9006840" y="306324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006840" y="3566160"/>
            <a:ext cx="21488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caso queda en Google Sheets con metricas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64031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DE FLUJO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 correo entrante a la accion segun categoria</a:t>
            </a:r>
            <a:endParaRPr lang="en-US" sz="2400" dirty="0"/>
          </a:p>
        </p:txBody>
      </p:sp>
      <p:pic>
        <p:nvPicPr>
          <p:cNvPr id="4" name="Image 0" descr="/home/claude/fluj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31720" y="1508760"/>
            <a:ext cx="7498080" cy="5074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64031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 INTEGRACION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n8n como orquestador entre los servicios externos</a:t>
            </a:r>
            <a:endParaRPr lang="en-US" sz="2400" dirty="0"/>
          </a:p>
        </p:txBody>
      </p:sp>
      <p:pic>
        <p:nvPicPr>
          <p:cNvPr id="4" name="Image 0" descr="/home/claude/arquitectur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65960" y="1554480"/>
            <a:ext cx="8229600" cy="5074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64031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 INTEGRADOS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Todo con nodos nativos de n8n, sin infraestructura adicional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96167"/>
          </a:solidFill>
          <a:ln/>
        </p:spPr>
      </p:sp>
      <p:sp>
        <p:nvSpPr>
          <p:cNvPr id="5" name="Text 3"/>
          <p:cNvSpPr/>
          <p:nvPr/>
        </p:nvSpPr>
        <p:spPr>
          <a:xfrm>
            <a:off x="1188720" y="189280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0" y="1892808"/>
            <a:ext cx="6492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de correo entrante y envio de respuestas / borradores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0175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9E795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294436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(OpenAI / Anthropic)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029200" y="2944368"/>
            <a:ext cx="6492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Clasificacion de la categoria y redaccion del borrador de respuesta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406908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1188720" y="399592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029200" y="3995928"/>
            <a:ext cx="6492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Notificacion inmediata de correos marcados como urgentes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51206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97BC62"/>
          </a:solidFill>
          <a:ln/>
        </p:spPr>
      </p:sp>
      <p:sp>
        <p:nvSpPr>
          <p:cNvPr id="14" name="Text 12"/>
          <p:cNvSpPr/>
          <p:nvPr/>
        </p:nvSpPr>
        <p:spPr>
          <a:xfrm>
            <a:off x="1188720" y="504748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Sheets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029200" y="5047488"/>
            <a:ext cx="6492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historico de correo, categoria, accion y fecha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64031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FACTIBILIDAD E IMPACTO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Reduccion estimada en tiempo de primera respuesta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00200"/>
          <a:ext cx="60350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6949440" y="169164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94%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6949440" y="233172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tiempo hasta la primera respuesta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949440" y="306324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a 5 h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6949440" y="370332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construccion estimadas del workflow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949440" y="443484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Centavos de USD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6949440" y="507492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costo por decenas de ejecuciones de prueba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164031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Siguientes pasos para el modulo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8288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96167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371600" y="178308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el workflow completo en n8n siguiendo la guia paso a paso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78892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96167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1600" y="274320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Probar con correos reales de las tres categorias definidas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374904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96167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71600" y="370332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Medir tiempos de respuesta antes y despues para validar el impacto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470916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96167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709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71600" y="466344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Presentar el flujo en vivo junto con el JSON exportado como anexo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64031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2026-08-26T00:03:15Z</dcterms:created>
  <dcterms:modified xsi:type="dcterms:W3CDTF">2026-08-26T00:03:15Z</dcterms:modified>
</cp:coreProperties>
</file>